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263877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108960" cy="3108960"/>
          </a:xfrm>
          <a:prstGeom prst="ellipse">
            <a:avLst/>
          </a:prstGeom>
          <a:solidFill>
            <a:srgbClr val="26387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737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PADRÕES DE PROJETO · GRASP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4884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Information Expert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4290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deve saber o quê — e por que isso muda o design do seu sistema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989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A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de Padrões de Projeto — Desenvolvimento Orientado a Objetos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A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Enzo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4688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54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apresentação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09160" y="1024128"/>
            <a:ext cx="384048" cy="38404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709160" y="1024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349240" y="932688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Compreender 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padrões de projeto orientam decisões de design em sistemas orientados a objetos.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09160" y="2670048"/>
            <a:ext cx="384048" cy="38404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709160" y="2670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349240" y="2578608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Caracterizar 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padrão GRASP Information Expert: descrição, diagrama UML e problema que resolve.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709160" y="4315968"/>
            <a:ext cx="384048" cy="38404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09160" y="4315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349240" y="4224528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Demonstrar 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implementação prática em código, comparando abordagem sem e com o padrão.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GRASP · Information Expert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são os padrões GRASP?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Responsibility Assignment Software Patterns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um conjunto de princípios (Larman, </a:t>
            </a:r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“Applying UML and Patterns”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para responder a uma pergunta central do design OO: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280160" y="2331720"/>
            <a:ext cx="9601200" cy="822960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280160" y="23317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“Quem deve ser responsável por esse comportamento?”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365760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3657600"/>
            <a:ext cx="16642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Expert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468880" y="365760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 w="12700">
            <a:solidFill>
              <a:srgbClr val="D7DC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42032" y="3657600"/>
            <a:ext cx="16642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0" y="365760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 w="12700">
            <a:solidFill>
              <a:srgbClr val="D7DC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62272" y="3657600"/>
            <a:ext cx="16642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365760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 w="12700">
            <a:solidFill>
              <a:srgbClr val="D7DC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82512" y="3657600"/>
            <a:ext cx="16642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Coupling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0" y="365760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 w="12700">
            <a:solidFill>
              <a:srgbClr val="D7DC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02752" y="3657600"/>
            <a:ext cx="16642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Cohesion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0149840" y="365760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 w="12700">
            <a:solidFill>
              <a:srgbClr val="D7DC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222992" y="3657600"/>
            <a:ext cx="16642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138928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desta apresentação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GRASP · Information Expert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Information Expert — Definição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14400" y="1737360"/>
            <a:ext cx="10332720" cy="1371600"/>
          </a:xfrm>
          <a:prstGeom prst="roundRect">
            <a:avLst>
              <a:gd name="adj" fmla="val 6667"/>
            </a:avLst>
          </a:prstGeom>
          <a:solidFill>
            <a:srgbClr val="263877"/>
          </a:solidFill>
          <a:ln w="15875">
            <a:solidFill>
              <a:srgbClr val="F2A54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234440" y="1737360"/>
            <a:ext cx="9692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1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“Atribua uma responsabilidade à classe que possui a informação necessária para cumpri-la.”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22960" y="3429000"/>
            <a:ext cx="502920" cy="54864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356616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aplicar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023360"/>
            <a:ext cx="3429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vez que uma responsabilidade (método, cálculo, validação) precisa de um dono.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07992" y="3429000"/>
            <a:ext cx="502920" cy="54864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07992" y="356616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decidir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07992" y="4023360"/>
            <a:ext cx="3429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Pergunte: quais dados essa tarefa exige? Qual classe já guarda esses dados?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93024" y="3429000"/>
            <a:ext cx="502920" cy="54864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193024" y="356616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193024" y="4023360"/>
            <a:ext cx="3429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Comportamento e dados ficam juntos — a classe vira “especialista” no próprio assunto.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GRASP · Information Expert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 problema o padrão resolve?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um critério claro, é comum concentrar lógica em classes “gerentes” genéricas — mesmo quando elas não têm os dados necessários. Isso gera: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5440680" cy="96012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2496312"/>
            <a:ext cx="365760" cy="36576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2496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61872" y="2386584"/>
            <a:ext cx="46177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acoplamento
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externas precisam expor getters só para que outra classe leia os dados e calcule.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72200" y="2331720"/>
            <a:ext cx="5440680" cy="96012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/>
        </p:spPr>
      </p:sp>
      <p:sp>
        <p:nvSpPr>
          <p:cNvPr id="9" name="Shape 7"/>
          <p:cNvSpPr/>
          <p:nvPr/>
        </p:nvSpPr>
        <p:spPr>
          <a:xfrm>
            <a:off x="6373368" y="2496312"/>
            <a:ext cx="365760" cy="36576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73368" y="2496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885432" y="2386584"/>
            <a:ext cx="46177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 coesão
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classe “faz de tudo” em vez de concentrar comportamento relacionado.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611880"/>
            <a:ext cx="5440680" cy="96012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/>
        </p:spPr>
      </p:sp>
      <p:sp>
        <p:nvSpPr>
          <p:cNvPr id="13" name="Shape 11"/>
          <p:cNvSpPr/>
          <p:nvPr/>
        </p:nvSpPr>
        <p:spPr>
          <a:xfrm>
            <a:off x="749808" y="3776472"/>
            <a:ext cx="365760" cy="36576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49808" y="3776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61872" y="3666744"/>
            <a:ext cx="46177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Duplicação de lógica
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mesma regra de negócio é reescrita em vários lugares que acessam os mesmos dados.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72200" y="3611880"/>
            <a:ext cx="5440680" cy="96012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/>
        </p:spPr>
      </p:sp>
      <p:sp>
        <p:nvSpPr>
          <p:cNvPr id="17" name="Shape 15"/>
          <p:cNvSpPr/>
          <p:nvPr/>
        </p:nvSpPr>
        <p:spPr>
          <a:xfrm>
            <a:off x="6373368" y="3776472"/>
            <a:ext cx="365760" cy="36576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73368" y="3776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885432" y="3666744"/>
            <a:ext cx="46177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Dificuldade de manutenção
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Mudar uma regra exige caçar todas as classes que “espiam” o objeto original.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GRASP · Information Expert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Diagrama UML — sem o padrão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responsabilidade fica em uma classe que não guarda os dados necessários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3017520" cy="384048"/>
          </a:xfrm>
          <a:prstGeom prst="rect">
            <a:avLst/>
          </a:prstGeom>
          <a:solidFill>
            <a:srgbClr val="B0413E"/>
          </a:solidFill>
          <a:ln w="12700">
            <a:solidFill>
              <a:srgbClr val="B0413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82880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CalculadoraDeTotais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2212848"/>
            <a:ext cx="30175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B0413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" y="2231136"/>
            <a:ext cx="2798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31520" y="2542032"/>
            <a:ext cx="30175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B0413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41248" y="2560320"/>
            <a:ext cx="2798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B04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calcularTotal(pedido)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0" y="1828800"/>
            <a:ext cx="301752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0" y="182880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0" y="2212848"/>
            <a:ext cx="30175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81728" y="2231136"/>
            <a:ext cx="2798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itens: List&lt;ItemPedido&gt;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0" y="2542032"/>
            <a:ext cx="30175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81728" y="2560320"/>
            <a:ext cx="2798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getItens(): List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412480" y="1828800"/>
            <a:ext cx="301752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12480" y="182880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ItemPedido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412480" y="2212848"/>
            <a:ext cx="30175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522208" y="2231136"/>
            <a:ext cx="2798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preco: double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quantidade: int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412480" y="2798064"/>
            <a:ext cx="30175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522208" y="2816352"/>
            <a:ext cx="2798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getPreco(): double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getQuantidade(): int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749040" y="2148840"/>
            <a:ext cx="822960" cy="0"/>
          </a:xfrm>
          <a:prstGeom prst="line">
            <a:avLst/>
          </a:prstGeom>
          <a:noFill/>
          <a:ln w="19050">
            <a:solidFill>
              <a:srgbClr val="4A4A4A"/>
            </a:solidFill>
            <a:prstDash val="dash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3767328" y="221284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/ lê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589520" y="2148840"/>
            <a:ext cx="822960" cy="0"/>
          </a:xfrm>
          <a:prstGeom prst="line">
            <a:avLst/>
          </a:prstGeom>
          <a:noFill/>
          <a:ln w="19050">
            <a:solidFill>
              <a:srgbClr val="4A4A4A"/>
            </a:solidFill>
            <a:prstDash val="dash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7607808" y="221284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/ lê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31520" y="4434840"/>
            <a:ext cx="10698480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ln w="12700">
            <a:solidFill>
              <a:srgbClr val="D7DCE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05840" y="4434840"/>
            <a:ext cx="10149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B04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CalculadoraDeTotais não tem preço nem quantidade — precisa “invadir” Pedido e ItemPedido através de getters só para calcular. Alto acoplamento, baixa coesão, e a regra de cálculo mora longe dos dados que ela usa.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GRASP · Information Expert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Diagrama UML — aplicando o Information Expert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classe resolve o que ela mesma sabe resolver — e delega o resto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463040" y="1965960"/>
            <a:ext cx="374904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63040" y="196596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463040" y="2350008"/>
            <a:ext cx="37490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572768" y="2368296"/>
            <a:ext cx="3529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itens: List&lt;ItemPedido&gt;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463040" y="2679192"/>
            <a:ext cx="37490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72768" y="2697480"/>
            <a:ext cx="3529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D7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calcularTotal(): double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949440" y="1965960"/>
            <a:ext cx="374904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949440" y="196596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ItemPedido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949440" y="2350008"/>
            <a:ext cx="37490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059168" y="2368296"/>
            <a:ext cx="3529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preco: double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quantidade: int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949440" y="2935224"/>
            <a:ext cx="37490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059168" y="2953512"/>
            <a:ext cx="3529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D7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calcularSubtotal(): double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212080" y="2331720"/>
            <a:ext cx="1737360" cy="0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5257800" y="1965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itens  *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074920" y="23774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 para calcularSubtotal()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31520" y="4434840"/>
            <a:ext cx="10698480" cy="1417320"/>
          </a:xfrm>
          <a:prstGeom prst="roundRect">
            <a:avLst>
              <a:gd name="adj" fmla="val 5161"/>
            </a:avLst>
          </a:prstGeom>
          <a:solidFill>
            <a:srgbClr val="EAF6F0"/>
          </a:solidFill>
          <a:ln w="12700">
            <a:solidFill>
              <a:srgbClr val="1D7A5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05840" y="4434840"/>
            <a:ext cx="10149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D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Solução: 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ItemPedido é o especialista em seu próprio subtotal (tem preço e quantidade). Pedido é o especialista no total geral (conhece a lista de itens) e delega em cadeia. Dados e comportamento ficam juntos.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GRASP · Information Expert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 de código — o problema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 fora do lugar: a classe calcula com dados que não são seus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9509760" y="50292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E5A5A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509760" y="502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O PADRÃO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64240" cy="5120640"/>
          </a:xfrm>
          <a:prstGeom prst="roundRect">
            <a:avLst>
              <a:gd name="adj" fmla="val 1429"/>
            </a:avLst>
          </a:prstGeom>
          <a:solidFill>
            <a:srgbClr val="162049"/>
          </a:solidFill>
          <a:ln w="12700">
            <a:solidFill>
              <a:srgbClr val="2A3A7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627632"/>
            <a:ext cx="146304" cy="146304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8" name="Shape 6"/>
          <p:cNvSpPr/>
          <p:nvPr/>
        </p:nvSpPr>
        <p:spPr>
          <a:xfrm>
            <a:off x="1078992" y="1627632"/>
            <a:ext cx="146304" cy="146304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9" name="Shape 7"/>
          <p:cNvSpPr/>
          <p:nvPr/>
        </p:nvSpPr>
        <p:spPr>
          <a:xfrm>
            <a:off x="1335024" y="1627632"/>
            <a:ext cx="146304" cy="146304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424160" y="16002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1965960"/>
            <a:ext cx="1042416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50"/>
              </a:lnSpc>
              <a:buNone/>
            </a:pPr>
            <a:r>
              <a:rPr lang="en-US" sz="12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</a:t>
            </a:r>
            <a:pPr indent="0" marL="0">
              <a:lnSpc>
                <a:spcPts val="950"/>
              </a:lnSpc>
              <a:buNone/>
            </a:pPr>
            <a:r>
              <a:rPr lang="en-US" sz="12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ItemPedido</a:t>
            </a:r>
            <a:pPr indent="0" marL="0">
              <a:lnSpc>
                <a:spcPts val="950"/>
              </a:lnSpc>
              <a:buNone/>
            </a:pPr>
            <a:r>
              <a:rPr lang="en-US" sz="12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pPr indent="0" marL="0">
              <a:lnSpc>
                <a:spcPts val="9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1250" dirty="0"/>
          </a:p>
          <a:p>
            <a:pPr indent="0" marL="0">
              <a:lnSpc>
                <a:spcPts val="950"/>
              </a:lnSpc>
              <a:buNone/>
            </a:pPr>
            <a:r>
              <a:rPr lang="en-US" sz="12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double preco;</a:t>
            </a:r>
            <a:pPr indent="0" marL="0">
              <a:lnSpc>
                <a:spcPts val="9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1250" dirty="0"/>
          </a:p>
          <a:p>
            <a:pPr indent="0" marL="0">
              <a:lnSpc>
                <a:spcPts val="950"/>
              </a:lnSpc>
              <a:buNone/>
            </a:pPr>
            <a:r>
              <a:rPr lang="en-US" sz="12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int quantidade;</a:t>
            </a:r>
            <a:pPr indent="0" marL="0">
              <a:lnSpc>
                <a:spcPts val="9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1250" dirty="0"/>
          </a:p>
          <a:p>
            <a:pPr indent="0" marL="0">
              <a:lnSpc>
                <a:spcPts val="950"/>
              </a:lnSpc>
              <a:buNone/>
            </a:pPr>
            <a:r>
              <a:rPr lang="en-US" sz="12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double </a:t>
            </a:r>
            <a:pPr indent="0" marL="0">
              <a:lnSpc>
                <a:spcPts val="950"/>
              </a:lnSpc>
              <a:buNone/>
            </a:pPr>
            <a:r>
              <a:rPr lang="en-US" sz="12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getPreco</a:t>
            </a:r>
            <a:pPr indent="0" marL="0">
              <a:lnSpc>
                <a:spcPts val="950"/>
              </a:lnSpc>
              <a:buNone/>
            </a:pPr>
            <a:r>
              <a:rPr lang="en-US" sz="12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 return preco; }</a:t>
            </a:r>
            <a:pPr indent="0" marL="0">
              <a:lnSpc>
                <a:spcPts val="9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1250" dirty="0"/>
          </a:p>
          <a:p>
            <a:pPr indent="0" marL="0">
              <a:lnSpc>
                <a:spcPts val="950"/>
              </a:lnSpc>
              <a:buNone/>
            </a:pPr>
            <a:r>
              <a:rPr lang="en-US" sz="12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int </a:t>
            </a:r>
            <a:pPr indent="0" marL="0">
              <a:lnSpc>
                <a:spcPts val="950"/>
              </a:lnSpc>
              <a:buNone/>
            </a:pPr>
            <a:r>
              <a:rPr lang="en-US" sz="12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getQuantidade</a:t>
            </a:r>
            <a:pPr indent="0" marL="0">
              <a:lnSpc>
                <a:spcPts val="950"/>
              </a:lnSpc>
              <a:buNone/>
            </a:pPr>
            <a:r>
              <a:rPr lang="en-US" sz="12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 return quantidade; }</a:t>
            </a:r>
            <a:pPr indent="0" marL="0">
              <a:lnSpc>
                <a:spcPts val="9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1250" dirty="0"/>
          </a:p>
          <a:p>
            <a:pPr indent="0" marL="0">
              <a:lnSpc>
                <a:spcPts val="950"/>
              </a:lnSpc>
              <a:buNone/>
            </a:pPr>
            <a:r>
              <a:rPr lang="en-US" sz="12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ts val="9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1250" dirty="0"/>
          </a:p>
          <a:p>
            <a:pPr indent="0" marL="0">
              <a:lnSpc>
                <a:spcPts val="950"/>
              </a:lnSpc>
              <a:buNone/>
            </a:pPr>
            <a:pPr indent="0" marL="0">
              <a:lnSpc>
                <a:spcPts val="9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1250" dirty="0"/>
          </a:p>
          <a:p>
            <a:pPr indent="0" marL="0">
              <a:lnSpc>
                <a:spcPts val="950"/>
              </a:lnSpc>
              <a:buNone/>
            </a:pPr>
            <a:r>
              <a:rPr lang="en-US" sz="12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</a:t>
            </a:r>
            <a:pPr indent="0" marL="0">
              <a:lnSpc>
                <a:spcPts val="950"/>
              </a:lnSpc>
              <a:buNone/>
            </a:pPr>
            <a:r>
              <a:rPr lang="en-US" sz="12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CalculadoraDeTotais</a:t>
            </a:r>
            <a:pPr indent="0" marL="0">
              <a:lnSpc>
                <a:spcPts val="950"/>
              </a:lnSpc>
              <a:buNone/>
            </a:pPr>
            <a:r>
              <a:rPr lang="en-US" sz="12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pPr indent="0" marL="0">
              <a:lnSpc>
                <a:spcPts val="9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1250" dirty="0"/>
          </a:p>
          <a:p>
            <a:pPr indent="0" marL="0">
              <a:lnSpc>
                <a:spcPts val="950"/>
              </a:lnSpc>
              <a:buNone/>
            </a:pPr>
            <a:r>
              <a:rPr lang="en-US" sz="12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não tem preço nem quantidade — precisa "espiar"</a:t>
            </a:r>
            <a:pPr indent="0" marL="0">
              <a:lnSpc>
                <a:spcPts val="9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1250" dirty="0"/>
          </a:p>
          <a:p>
            <a:pPr indent="0" marL="0">
              <a:lnSpc>
                <a:spcPts val="950"/>
              </a:lnSpc>
              <a:buNone/>
            </a:pPr>
            <a:r>
              <a:rPr lang="en-US" sz="12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double </a:t>
            </a:r>
            <a:pPr indent="0" marL="0">
              <a:lnSpc>
                <a:spcPts val="950"/>
              </a:lnSpc>
              <a:buNone/>
            </a:pPr>
            <a:r>
              <a:rPr lang="en-US" sz="1250" b="1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calcularTotal</a:t>
            </a:r>
            <a:pPr indent="0" marL="0">
              <a:lnSpc>
                <a:spcPts val="950"/>
              </a:lnSpc>
              <a:buNone/>
            </a:pPr>
            <a:r>
              <a:rPr lang="en-US" sz="12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(Pedido pedido) {</a:t>
            </a:r>
            <a:pPr indent="0" marL="0">
              <a:lnSpc>
                <a:spcPts val="9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1250" dirty="0"/>
          </a:p>
          <a:p>
            <a:pPr indent="0" marL="0">
              <a:lnSpc>
                <a:spcPts val="950"/>
              </a:lnSpc>
              <a:buNone/>
            </a:pPr>
            <a:r>
              <a:rPr lang="en-US" sz="12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double total = 0;</a:t>
            </a:r>
            <a:pPr indent="0" marL="0">
              <a:lnSpc>
                <a:spcPts val="9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1250" dirty="0"/>
          </a:p>
          <a:p>
            <a:pPr indent="0" marL="0">
              <a:lnSpc>
                <a:spcPts val="950"/>
              </a:lnSpc>
              <a:buNone/>
            </a:pPr>
            <a:r>
              <a:rPr lang="en-US" sz="12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(ItemPedido item : pedido.getItens()) {</a:t>
            </a:r>
            <a:pPr indent="0" marL="0">
              <a:lnSpc>
                <a:spcPts val="9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1250" dirty="0"/>
          </a:p>
          <a:p>
            <a:pPr indent="0" marL="0">
              <a:lnSpc>
                <a:spcPts val="950"/>
              </a:lnSpc>
              <a:buNone/>
            </a:pPr>
            <a:r>
              <a:rPr lang="en-US" sz="12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total += item.getPreco() * item.getQuantidade();</a:t>
            </a:r>
            <a:pPr indent="0" marL="0">
              <a:lnSpc>
                <a:spcPts val="9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1250" dirty="0"/>
          </a:p>
          <a:p>
            <a:pPr indent="0" marL="0">
              <a:lnSpc>
                <a:spcPts val="950"/>
              </a:lnSpc>
              <a:buNone/>
            </a:pPr>
            <a:r>
              <a:rPr lang="en-US" sz="12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pPr indent="0" marL="0">
              <a:lnSpc>
                <a:spcPts val="9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1250" dirty="0"/>
          </a:p>
          <a:p>
            <a:pPr indent="0" marL="0">
              <a:lnSpc>
                <a:spcPts val="950"/>
              </a:lnSpc>
              <a:buNone/>
            </a:pPr>
            <a:r>
              <a:rPr lang="en-US" sz="12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total;</a:t>
            </a:r>
            <a:pPr indent="0" marL="0">
              <a:lnSpc>
                <a:spcPts val="9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1250" dirty="0"/>
          </a:p>
          <a:p>
            <a:pPr indent="0" marL="0">
              <a:lnSpc>
                <a:spcPts val="950"/>
              </a:lnSpc>
              <a:buNone/>
            </a:pPr>
            <a:r>
              <a:rPr lang="en-US" sz="12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pPr indent="0" marL="0">
              <a:lnSpc>
                <a:spcPts val="9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1250" dirty="0"/>
          </a:p>
          <a:p>
            <a:pPr indent="0" marL="0">
              <a:lnSpc>
                <a:spcPts val="950"/>
              </a:lnSpc>
              <a:buNone/>
            </a:pPr>
            <a:r>
              <a:rPr lang="en-US" sz="12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ts val="9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GRASP · Information Expert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 de código — a solução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classe calcula com os dados que ela mesma possui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9509760" y="50292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9FE0C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509760" y="502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O PADRÃO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64240" cy="5120640"/>
          </a:xfrm>
          <a:prstGeom prst="roundRect">
            <a:avLst>
              <a:gd name="adj" fmla="val 1429"/>
            </a:avLst>
          </a:prstGeom>
          <a:solidFill>
            <a:srgbClr val="162049"/>
          </a:solidFill>
          <a:ln w="12700">
            <a:solidFill>
              <a:srgbClr val="2A3A7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627632"/>
            <a:ext cx="146304" cy="146304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8" name="Shape 6"/>
          <p:cNvSpPr/>
          <p:nvPr/>
        </p:nvSpPr>
        <p:spPr>
          <a:xfrm>
            <a:off x="1078992" y="1627632"/>
            <a:ext cx="146304" cy="146304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9" name="Shape 7"/>
          <p:cNvSpPr/>
          <p:nvPr/>
        </p:nvSpPr>
        <p:spPr>
          <a:xfrm>
            <a:off x="1335024" y="1627632"/>
            <a:ext cx="146304" cy="146304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424160" y="16002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1965960"/>
            <a:ext cx="1042416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50"/>
              </a:lnSpc>
              <a:buNone/>
            </a:pPr>
            <a:r>
              <a:rPr lang="en-US" sz="12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</a:t>
            </a:r>
            <a:pPr indent="0" marL="0">
              <a:lnSpc>
                <a:spcPts val="950"/>
              </a:lnSpc>
              <a:buNone/>
            </a:pPr>
            <a:r>
              <a:rPr lang="en-US" sz="12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ItemPedido</a:t>
            </a:r>
            <a:pPr indent="0" marL="0">
              <a:lnSpc>
                <a:spcPts val="950"/>
              </a:lnSpc>
              <a:buNone/>
            </a:pPr>
            <a:r>
              <a:rPr lang="en-US" sz="12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pPr indent="0" marL="0">
              <a:lnSpc>
                <a:spcPts val="9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1250" dirty="0"/>
          </a:p>
          <a:p>
            <a:pPr indent="0" marL="0">
              <a:lnSpc>
                <a:spcPts val="950"/>
              </a:lnSpc>
              <a:buNone/>
            </a:pPr>
            <a:r>
              <a:rPr lang="en-US" sz="12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double preco;</a:t>
            </a:r>
            <a:pPr indent="0" marL="0">
              <a:lnSpc>
                <a:spcPts val="9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1250" dirty="0"/>
          </a:p>
          <a:p>
            <a:pPr indent="0" marL="0">
              <a:lnSpc>
                <a:spcPts val="950"/>
              </a:lnSpc>
              <a:buNone/>
            </a:pPr>
            <a:r>
              <a:rPr lang="en-US" sz="12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int quantidade;</a:t>
            </a:r>
            <a:pPr indent="0" marL="0">
              <a:lnSpc>
                <a:spcPts val="9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1250" dirty="0"/>
          </a:p>
          <a:p>
            <a:pPr indent="0" marL="0">
              <a:lnSpc>
                <a:spcPts val="950"/>
              </a:lnSpc>
              <a:buNone/>
            </a:pPr>
            <a:r>
              <a:rPr lang="en-US" sz="12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ItemPedido é o expert no PRÓPRIO subtotal</a:t>
            </a:r>
            <a:pPr indent="0" marL="0">
              <a:lnSpc>
                <a:spcPts val="9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1250" dirty="0"/>
          </a:p>
          <a:p>
            <a:pPr indent="0" marL="0">
              <a:lnSpc>
                <a:spcPts val="950"/>
              </a:lnSpc>
              <a:buNone/>
            </a:pPr>
            <a:r>
              <a:rPr lang="en-US" sz="12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double </a:t>
            </a:r>
            <a:pPr indent="0" marL="0">
              <a:lnSpc>
                <a:spcPts val="950"/>
              </a:lnSpc>
              <a:buNone/>
            </a:pPr>
            <a:r>
              <a:rPr lang="en-US" sz="1250" b="1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calcularSubtotal</a:t>
            </a:r>
            <a:pPr indent="0" marL="0">
              <a:lnSpc>
                <a:spcPts val="950"/>
              </a:lnSpc>
              <a:buNone/>
            </a:pPr>
            <a:r>
              <a:rPr lang="en-US" sz="12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pPr indent="0" marL="0">
              <a:lnSpc>
                <a:spcPts val="9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1250" dirty="0"/>
          </a:p>
          <a:p>
            <a:pPr indent="0" marL="0">
              <a:lnSpc>
                <a:spcPts val="950"/>
              </a:lnSpc>
              <a:buNone/>
            </a:pPr>
            <a:r>
              <a:rPr lang="en-US" sz="12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preco * quantidade;</a:t>
            </a:r>
            <a:pPr indent="0" marL="0">
              <a:lnSpc>
                <a:spcPts val="9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1250" dirty="0"/>
          </a:p>
          <a:p>
            <a:pPr indent="0" marL="0">
              <a:lnSpc>
                <a:spcPts val="950"/>
              </a:lnSpc>
              <a:buNone/>
            </a:pPr>
            <a:r>
              <a:rPr lang="en-US" sz="12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pPr indent="0" marL="0">
              <a:lnSpc>
                <a:spcPts val="9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1250" dirty="0"/>
          </a:p>
          <a:p>
            <a:pPr indent="0" marL="0">
              <a:lnSpc>
                <a:spcPts val="950"/>
              </a:lnSpc>
              <a:buNone/>
            </a:pPr>
            <a:r>
              <a:rPr lang="en-US" sz="12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ts val="9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1250" dirty="0"/>
          </a:p>
          <a:p>
            <a:pPr indent="0" marL="0">
              <a:lnSpc>
                <a:spcPts val="950"/>
              </a:lnSpc>
              <a:buNone/>
            </a:pPr>
            <a:pPr indent="0" marL="0">
              <a:lnSpc>
                <a:spcPts val="9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1250" dirty="0"/>
          </a:p>
          <a:p>
            <a:pPr indent="0" marL="0">
              <a:lnSpc>
                <a:spcPts val="950"/>
              </a:lnSpc>
              <a:buNone/>
            </a:pPr>
            <a:r>
              <a:rPr lang="en-US" sz="12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</a:t>
            </a:r>
            <a:pPr indent="0" marL="0">
              <a:lnSpc>
                <a:spcPts val="950"/>
              </a:lnSpc>
              <a:buNone/>
            </a:pPr>
            <a:r>
              <a:rPr lang="en-US" sz="12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</a:t>
            </a:r>
            <a:pPr indent="0" marL="0">
              <a:lnSpc>
                <a:spcPts val="950"/>
              </a:lnSpc>
              <a:buNone/>
            </a:pPr>
            <a:r>
              <a:rPr lang="en-US" sz="12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pPr indent="0" marL="0">
              <a:lnSpc>
                <a:spcPts val="9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1250" dirty="0"/>
          </a:p>
          <a:p>
            <a:pPr indent="0" marL="0">
              <a:lnSpc>
                <a:spcPts val="950"/>
              </a:lnSpc>
              <a:buNone/>
            </a:pPr>
            <a:r>
              <a:rPr lang="en-US" sz="12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List&lt;ItemPedido&gt; itens;</a:t>
            </a:r>
            <a:pPr indent="0" marL="0">
              <a:lnSpc>
                <a:spcPts val="9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1250" dirty="0"/>
          </a:p>
          <a:p>
            <a:pPr indent="0" marL="0">
              <a:lnSpc>
                <a:spcPts val="950"/>
              </a:lnSpc>
              <a:buNone/>
            </a:pPr>
            <a:r>
              <a:rPr lang="en-US" sz="12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Pedido é o expert no total GERAL</a:t>
            </a:r>
            <a:pPr indent="0" marL="0">
              <a:lnSpc>
                <a:spcPts val="9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1250" dirty="0"/>
          </a:p>
          <a:p>
            <a:pPr indent="0" marL="0">
              <a:lnSpc>
                <a:spcPts val="950"/>
              </a:lnSpc>
              <a:buNone/>
            </a:pPr>
            <a:r>
              <a:rPr lang="en-US" sz="12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double </a:t>
            </a:r>
            <a:pPr indent="0" marL="0">
              <a:lnSpc>
                <a:spcPts val="950"/>
              </a:lnSpc>
              <a:buNone/>
            </a:pPr>
            <a:r>
              <a:rPr lang="en-US" sz="1250" b="1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calcularTotal</a:t>
            </a:r>
            <a:pPr indent="0" marL="0">
              <a:lnSpc>
                <a:spcPts val="950"/>
              </a:lnSpc>
              <a:buNone/>
            </a:pPr>
            <a:r>
              <a:rPr lang="en-US" sz="12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pPr indent="0" marL="0">
              <a:lnSpc>
                <a:spcPts val="9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1250" dirty="0"/>
          </a:p>
          <a:p>
            <a:pPr indent="0" marL="0">
              <a:lnSpc>
                <a:spcPts val="950"/>
              </a:lnSpc>
              <a:buNone/>
            </a:pPr>
            <a:r>
              <a:rPr lang="en-US" sz="12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double total = 0;</a:t>
            </a:r>
            <a:pPr indent="0" marL="0">
              <a:lnSpc>
                <a:spcPts val="9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1250" dirty="0"/>
          </a:p>
          <a:p>
            <a:pPr indent="0" marL="0">
              <a:lnSpc>
                <a:spcPts val="950"/>
              </a:lnSpc>
              <a:buNone/>
            </a:pPr>
            <a:r>
              <a:rPr lang="en-US" sz="12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(ItemPedido item : itens) total += item.calcularSubtotal();</a:t>
            </a:r>
            <a:pPr indent="0" marL="0">
              <a:lnSpc>
                <a:spcPts val="9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1250" dirty="0"/>
          </a:p>
          <a:p>
            <a:pPr indent="0" marL="0">
              <a:lnSpc>
                <a:spcPts val="950"/>
              </a:lnSpc>
              <a:buNone/>
            </a:pPr>
            <a:r>
              <a:rPr lang="en-US" sz="12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total;</a:t>
            </a:r>
            <a:pPr indent="0" marL="0">
              <a:lnSpc>
                <a:spcPts val="9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1250" dirty="0"/>
          </a:p>
          <a:p>
            <a:pPr indent="0" marL="0">
              <a:lnSpc>
                <a:spcPts val="950"/>
              </a:lnSpc>
              <a:buNone/>
            </a:pPr>
            <a:r>
              <a:rPr lang="en-US" sz="12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pPr indent="0" marL="0">
              <a:lnSpc>
                <a:spcPts val="9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1250" dirty="0"/>
          </a:p>
          <a:p>
            <a:pPr indent="0" marL="0">
              <a:lnSpc>
                <a:spcPts val="950"/>
              </a:lnSpc>
              <a:buNone/>
            </a:pPr>
            <a:r>
              <a:rPr lang="en-US" sz="1250" dirty="0">
                <a:solidFill>
                  <a:srgbClr val="D7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ts val="9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GRASP · Information Expert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Conclusão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1563624"/>
            <a:ext cx="128016" cy="12801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380744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acoplamento — </a:t>
            </a:r>
            <a:pPr indent="0" marL="0">
              <a:buNone/>
            </a:pPr>
            <a:r>
              <a:rPr lang="en-US" sz="14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getters expostos, menos classes “bisbilhotando” dados alheios.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94360" y="2185416"/>
            <a:ext cx="128016" cy="12801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002536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coesão — </a:t>
            </a:r>
            <a:pPr indent="0" marL="0">
              <a:buNone/>
            </a:pPr>
            <a:r>
              <a:rPr lang="en-US" sz="14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classe concentra dados + comportamento que fazem sentido juntos.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4360" y="2807208"/>
            <a:ext cx="128016" cy="12801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2624328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fácil de manter — </a:t>
            </a:r>
            <a:pPr indent="0" marL="0">
              <a:buNone/>
            </a:pPr>
            <a:r>
              <a:rPr lang="en-US" sz="14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mudar uma regra afeta uma única classe, não várias espalhadas.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94360" y="3429000"/>
            <a:ext cx="128016" cy="12801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24612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 passo do GRASP — </a:t>
            </a:r>
            <a:pPr indent="0" marL="0">
              <a:buNone/>
            </a:pPr>
            <a:r>
              <a:rPr lang="en-US" sz="14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para aplicar Creator, Controller e os demais padrões.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4160520"/>
            <a:ext cx="10881360" cy="1737360"/>
          </a:xfrm>
          <a:prstGeom prst="roundRect">
            <a:avLst>
              <a:gd name="adj" fmla="val 5263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4343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para levar para casa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7091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criar mais um método em uma classe “gerente”: essa classe realmente tem os dados para cumprir essa responsabilidade — ou existe outra classe que já os possui?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172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Referência: LARMAN, Craig. Applying UML and Patterns — cap. sobre GRASP.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GRASP · Information Expert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2026-09-23T01:24:24Z</dcterms:created>
  <dcterms:modified xsi:type="dcterms:W3CDTF">2026-09-23T01:24:24Z</dcterms:modified>
</cp:coreProperties>
</file>